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29c5e3082c48fa" /><Relationship Type="http://schemas.openxmlformats.org/officeDocument/2006/relationships/extended-properties" Target="/docProps/app.xml" Id="R334b15ec24e94166" /><Relationship Type="http://schemas.openxmlformats.org/officeDocument/2006/relationships/officeDocument" Target="/ppt/presentation.xml" Id="R058b727e5de540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aad479d7f04f18"/>
  </p:sldMasterIdLst>
  <p:notesMasterIdLst>
    <p:notesMasterId xmlns:r="http://schemas.openxmlformats.org/officeDocument/2006/relationships" r:id="R75885a04fb2a4702"/>
  </p:notesMasterIdLst>
  <p:sldIdLst>
    <p:sldId xmlns:r="http://schemas.openxmlformats.org/officeDocument/2006/relationships" id="256" r:id="Re22c74ebff52488b"/>
    <p:sldId xmlns:r="http://schemas.openxmlformats.org/officeDocument/2006/relationships" id="257" r:id="Rfc14170049d64bb9"/>
    <p:sldId xmlns:r="http://schemas.openxmlformats.org/officeDocument/2006/relationships" id="258" r:id="Rc05379026c34424e"/>
    <p:sldId xmlns:r="http://schemas.openxmlformats.org/officeDocument/2006/relationships" id="259" r:id="Rcc407578a4ed4de0"/>
    <p:sldId xmlns:r="http://schemas.openxmlformats.org/officeDocument/2006/relationships" id="260" r:id="R6a9fa8333ba543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fc3efbcbe742d0" /><Relationship Type="http://schemas.openxmlformats.org/officeDocument/2006/relationships/slideMaster" Target="/ppt/slideMasters/slideMaster1.xml" Id="R36aad479d7f04f18" /><Relationship Type="http://schemas.openxmlformats.org/officeDocument/2006/relationships/notesMaster" Target="/ppt/notesMasters/notesMaster1.xml" Id="R75885a04fb2a4702" /><Relationship Type="http://schemas.openxmlformats.org/officeDocument/2006/relationships/presProps" Target="/ppt/presProps.xml" Id="R441ab3b98de84d95" /><Relationship Type="http://schemas.openxmlformats.org/officeDocument/2006/relationships/tableStyles" Target="/ppt/tableStyles.xml" Id="Rfcc745f3acdb4227" /><Relationship Type="http://schemas.openxmlformats.org/officeDocument/2006/relationships/slide" Target="/ppt/slides/slide1.xml" Id="Re22c74ebff52488b" /><Relationship Type="http://schemas.openxmlformats.org/officeDocument/2006/relationships/slide" Target="/ppt/slides/slide2.xml" Id="Rfc14170049d64bb9" /><Relationship Type="http://schemas.openxmlformats.org/officeDocument/2006/relationships/slide" Target="/ppt/slides/slide3.xml" Id="Rc05379026c34424e" /><Relationship Type="http://schemas.openxmlformats.org/officeDocument/2006/relationships/slide" Target="/ppt/slides/slide4.xml" Id="Rcc407578a4ed4de0" /><Relationship Type="http://schemas.openxmlformats.org/officeDocument/2006/relationships/slide" Target="/ppt/slides/slide5.xml" Id="R6a9fa8333ba543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bf8ab4a1f742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76fda633ca4820" /><Relationship Type="http://schemas.openxmlformats.org/officeDocument/2006/relationships/notesMaster" Target="/ppt/notesMasters/notesMaster1.xml" Id="R7e89cd8dde2d41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5691f25c934cab" /><Relationship Type="http://schemas.openxmlformats.org/officeDocument/2006/relationships/notesMaster" Target="/ppt/notesMasters/notesMaster1.xml" Id="R63b635c1331045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777a5812d945de" /><Relationship Type="http://schemas.openxmlformats.org/officeDocument/2006/relationships/notesMaster" Target="/ppt/notesMasters/notesMaster1.xml" Id="R9c104d0e61984f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32ee3199ca4cae" /><Relationship Type="http://schemas.openxmlformats.org/officeDocument/2006/relationships/notesMaster" Target="/ppt/notesMasters/notesMaster1.xml" Id="R7af7fbc5367643b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41777fd8b5480d" /><Relationship Type="http://schemas.openxmlformats.org/officeDocument/2006/relationships/notesMaster" Target="/ppt/notesMasters/notesMaster1.xml" Id="R7a4581ee427e43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ABC Tutoring prototype screenshot captured from the local build on September 5,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Dana interview supplied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ABC Tutoring prototype screenshot. The demo tutor portrait is an Unsplash photograph: https://images.unsplash.com/photo-1494790108377-be9c29b29330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ABC Tutoring prototype screenshot. Demo tutor images shown in the screenshot are from Unsplash: https://images.unsplash.com/photo-1494790108377-be9c29b29330, https://images.unsplash.com/photo-1566753323558-f4e0952af115, and https://images.unsplash.com/photo-1534528741775-53994a69daeb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Dana interview and the analytics event plan implemented in the ABC Tutoring prototype. No external performance data is 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c6d6310dc241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7f10e6a29045d7" /><Relationship Type="http://schemas.openxmlformats.org/officeDocument/2006/relationships/slideLayout" Target="/ppt/slideLayouts/slideLayout1.xml" Id="R2f10ecd2344942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10ecd2344942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7b59c72a84b6d" /><Relationship Type="http://schemas.openxmlformats.org/officeDocument/2006/relationships/image" Target="/ppt/media/image.png" Id="R4afa4b86d4ad4ea0" /><Relationship Type="http://schemas.openxmlformats.org/officeDocument/2006/relationships/notesSlide" Target="/ppt/notesSlides/notesSlide1.xml" Id="Rc439dd33d3dc48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0ab2b76404276" /><Relationship Type="http://schemas.openxmlformats.org/officeDocument/2006/relationships/notesSlide" Target="/ppt/notesSlides/notesSlide2.xml" Id="R7616e574983e40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0d05efe7e4157" /><Relationship Type="http://schemas.openxmlformats.org/officeDocument/2006/relationships/image" Target="/ppt/media/image2.png" Id="R0f0ed228998d4996" /><Relationship Type="http://schemas.openxmlformats.org/officeDocument/2006/relationships/notesSlide" Target="/ppt/notesSlides/notesSlide3.xml" Id="Rc96de1cff0d645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8d39db51f4635" /><Relationship Type="http://schemas.openxmlformats.org/officeDocument/2006/relationships/image" Target="/ppt/media/image3.png" Id="Re17b9f83c0c34746" /><Relationship Type="http://schemas.openxmlformats.org/officeDocument/2006/relationships/notesSlide" Target="/ppt/notesSlides/notesSlide4.xml" Id="R328dd43ec5b14d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970f4a55b4e0f" /><Relationship Type="http://schemas.openxmlformats.org/officeDocument/2006/relationships/notesSlide" Target="/ppt/notesSlides/notesSlide5.xml" Id="R46f420b6036f41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a4b86d4ad4ea0"/>
          <a:srcRect xmlns:a="http://schemas.openxmlformats.org/drawingml/2006/main" l="23524" t="0" r="235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0"/>
            <a:ext cx="5810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85CA6-9453-4A81-BDB7-E5192242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F8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078C6-6DD3-4529-8D15-A2707120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A FOLLOW-UP FOR DANA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C8F81-CCBB-472E-8FE1-C01F7911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3000"/>
              </a:lnSpc>
              <a:buNone/>
              <a:defRPr sz="43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ABC Tutoring</a:t>
            </a:r>
          </a:p>
          <a:p xmlns:a="http://schemas.openxmlformats.org/drawingml/2006/main">
            <a:pPr>
              <a:lnSpc>
                <a:spcPct val="93000"/>
              </a:lnSpc>
              <a:buNone/>
              <a:defRPr sz="43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website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34D75-9DA5-4BE9-BF79-65FF40C3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0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60716B"/>
                </a:solidFill>
                <a:latin typeface="Arial"/>
                <a:ea typeface="Arial"/>
                <a:cs typeface="Arial"/>
              </a:rPr>
              <a:t>A simpler way for parents to find a tutor and request a session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B1881-AFAF-485D-AB39-5AEEA6A6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1F4E3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3F"/>
                </a:solidFill>
                <a:latin typeface="Arial"/>
                <a:ea typeface="Arial"/>
                <a:cs typeface="Arial"/>
              </a:rPr>
              <a:t>Prototype findings and next steps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350">
                <a:solidFill>
                  <a:srgbClr val="1F4E3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3F"/>
                </a:solidFill>
                <a:latin typeface="Arial"/>
                <a:ea typeface="Arial"/>
                <a:cs typeface="Arial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4853142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95A9D2-8626-4623-B7F4-A77284D5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What I heard from you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623EE-755E-4B63-A680-A5F2A711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857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6F0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323850" tIns="285750" rIns="323850" bIns="28575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1F4E3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4E3F"/>
                </a:solidFill>
                <a:latin typeface="Arial"/>
                <a:ea typeface="Arial"/>
                <a:cs typeface="Arial"/>
              </a:rPr>
              <a:t>“I want parents to find the right tutor and book a session without everything going through my phone.”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C2BAB-9F2F-40C9-9810-590419D4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Dana, owner of ABC Tutoring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0DF61-F3F0-4489-85F6-C2B7DA20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5255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Help parents choose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D48DF-1439-4F1C-A7EF-8862A8DB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85925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716B"/>
                </a:solidFill>
                <a:latin typeface="Arial"/>
                <a:ea typeface="Arial"/>
                <a:cs typeface="Arial"/>
              </a:rPr>
              <a:t>Filter by subject and grade. Compare prices, availability and teaching format.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8B729-E6B2-4AF5-882A-5D211D31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43175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Build trust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52F3E-EFA9-44A8-A623-2F7BD5F5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716B"/>
                </a:solidFill>
                <a:latin typeface="Arial"/>
                <a:ea typeface="Arial"/>
                <a:cs typeface="Arial"/>
              </a:rPr>
              <a:t>Show real tutor photos, personal introductions, credentials and testimonials.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373F5-A0C8-45E9-A4B5-7D4657A0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Keep you in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8A690-8779-4BB5-9AD0-107723FD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67175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716B"/>
                </a:solidFill>
                <a:latin typeface="Arial"/>
                <a:ea typeface="Arial"/>
                <a:cs typeface="Arial"/>
              </a:rPr>
              <a:t>Collect requests for your approval and let you manage tutor availability.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32116-35E9-4148-BFA3-CB3B0FDF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24425"/>
            <a:ext cx="4762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Keep the first version simple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31C91-1749-404A-A7CF-E36B3878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4905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716B"/>
                </a:solidFill>
                <a:latin typeface="Arial"/>
                <a:ea typeface="Arial"/>
                <a:cs typeface="Arial"/>
              </a:rPr>
              <a:t>No payment or automated cancellation workflow. Parents can still call you when plans change.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60E51-D2F4-4583-B01A-ED4CF50A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93283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54517B-B19A-494D-A0B5-119C4050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Parents can request a session in one clear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A7E63-DCFC-4211-87E8-8BE8759C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0716B"/>
                </a:solidFill>
                <a:latin typeface="Arial"/>
                <a:ea typeface="Arial"/>
                <a:cs typeface="Arial"/>
              </a:rPr>
              <a:t>The prototype keeps the decision in one place and uses plain language throughout.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9B006-B1A4-4096-8EAA-6175C12B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352550"/>
            <a:ext cx="6943725" cy="4933950"/>
          </a:xfrm>
          <a:prstGeom xmlns:a="http://schemas.openxmlformats.org/drawingml/2006/main" prst="roundRect">
            <a:avLst>
              <a:gd name="adj" fmla="val 15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DA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ed228998d4996"/>
          <a:stretch xmlns:a="http://schemas.openxmlformats.org/drawingml/2006/main"/>
        </p:blipFill>
        <p:spPr>
          <a:xfrm xmlns:a="http://schemas.openxmlformats.org/drawingml/2006/main">
            <a:off x="4905375" y="1709142"/>
            <a:ext cx="6753225" cy="4220766"/>
          </a:xfrm>
          <a:prstGeom xmlns:a="http://schemas.openxmlformats.org/drawingml/2006/main" prst="roundRect">
            <a:avLst>
              <a:gd name="adj" fmla="val 241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37A19-B6B4-468A-A89C-A9912C7B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F3E1A-77BD-4FCC-AE47-9B3DA135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81150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Find the right tutor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E7570-D80D-4A94-A4AA-4D3E2F1A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0500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16B"/>
                </a:solidFill>
                <a:latin typeface="Arial"/>
                <a:ea typeface="Arial"/>
                <a:cs typeface="Arial"/>
              </a:rPr>
              <a:t>Use subject and grade filters, then compare rates and open times.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3C686-8F6F-4E96-AA0B-52480BDB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DAC91-4785-482E-912E-DBEB775C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Choose the session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152D9-DEE9-4428-B67E-6AF5FD8C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16B"/>
                </a:solidFill>
                <a:latin typeface="Arial"/>
                <a:ea typeface="Arial"/>
                <a:cs typeface="Arial"/>
              </a:rPr>
              <a:t>Pick an available time and choose online or in person.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B039E-6CB9-4F92-A3FB-B1E5E123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4120B-02F6-4223-B058-76AD6AF5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Share the essentials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525CC-6B09-4A2F-8FDF-4A95A60B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5290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16B"/>
                </a:solidFill>
                <a:latin typeface="Arial"/>
                <a:ea typeface="Arial"/>
                <a:cs typeface="Arial"/>
              </a:rPr>
              <a:t>Enter the parent’s contact details and the student’s first name, grade and subject.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0DDE8-48C0-44FE-95DB-DAE16820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629B5-345E-46D9-B1AD-42E9B9B4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53000"/>
            <a:ext cx="304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Wait for your reply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063BE-DE78-4E1E-B11E-FAB2F746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7685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60716B"/>
                </a:solidFill>
                <a:latin typeface="Arial"/>
                <a:ea typeface="Arial"/>
                <a:cs typeface="Arial"/>
              </a:rPr>
              <a:t>The parent sees “pending approval” while you review the request.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B796E-5750-4891-A6DA-3FBE8462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960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F4E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4E3F"/>
                </a:solidFill>
                <a:latin typeface="Arial"/>
                <a:ea typeface="Arial"/>
                <a:cs typeface="Arial"/>
              </a:rPr>
              <a:t>No payment is collected.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9BC0E-D2CC-4FAF-AF39-EFFCB994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818185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6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E3DFFD-D4A9-41C8-B496-CC61DEDB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Your booking desk keeps you in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ADB83-F042-4E81-BD22-C25CA9AC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0716B"/>
                </a:solidFill>
                <a:latin typeface="Arial"/>
                <a:ea typeface="Arial"/>
                <a:cs typeface="Arial"/>
              </a:rPr>
              <a:t>A simple private view gives you the final say over every request.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3F343-FD90-463C-8AD0-C53634D6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706755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DA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b9f83c0c34746"/>
          <a:srcRect xmlns:a="http://schemas.openxmlformats.org/drawingml/2006/main" l="412" t="0" r="4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00200"/>
            <a:ext cx="6877050" cy="4333875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AD008-F3B2-4A87-8DA8-14AAAC0D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1450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See every 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224ED-2F48-4463-B9F5-333B921C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764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716B"/>
                </a:solidFill>
                <a:latin typeface="Arial"/>
                <a:ea typeface="Arial"/>
                <a:cs typeface="Arial"/>
              </a:rPr>
              <a:t>Parent, student, tutor, subject, format and requested time appear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35D5A-212F-4BB6-A7D2-F18BDC2F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7180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Approve on your schedule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61B1D-BFFB-4212-83C0-77E066B2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337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716B"/>
                </a:solidFill>
                <a:latin typeface="Arial"/>
                <a:ea typeface="Arial"/>
                <a:cs typeface="Arial"/>
              </a:rPr>
              <a:t>A request stays pending until you decide. Approval removes that time from availability.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62B51-D40F-4228-92CF-BC26DF4A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2910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Keep tutor times current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FCE9F-3DBB-40CD-9656-8429F056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9105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60716B"/>
                </a:solidFill>
                <a:latin typeface="Arial"/>
                <a:ea typeface="Arial"/>
                <a:cs typeface="Arial"/>
              </a:rPr>
              <a:t>You can add or remove each tutor’s available times yourself.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ED0E3-B17C-4144-BA6D-4FC291FB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05450"/>
            <a:ext cx="1524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4E3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4E3F"/>
                </a:solidFill>
                <a:latin typeface="Arial"/>
                <a:ea typeface="Arial"/>
                <a:cs typeface="Arial"/>
              </a:rPr>
              <a:t>Prototype note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44D91B-4675-4849-B960-B5D02B4C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781675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350">
                <a:solidFill>
                  <a:srgbClr val="1F4E3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4E3F"/>
                </a:solidFill>
                <a:latin typeface="Arial"/>
                <a:ea typeface="Arial"/>
                <a:cs typeface="Arial"/>
              </a:rPr>
              <a:t>Notifications and schedule updates are simulated and saved on one device for now.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28650F-48F2-4176-8C21-FDD5AD12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950018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698FC-D878-4A63-ACF3-274B9C26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What you can learn from the website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EDB6F-6F00-4237-9C87-8C86C3BE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0716B"/>
                </a:solidFill>
                <a:latin typeface="Arial"/>
                <a:ea typeface="Arial"/>
                <a:cs typeface="Arial"/>
              </a:rPr>
              <a:t>PostHog follows the parent journey without collecting names, emails or student details.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ADAB1-B5BF-48B4-B758-A1D780D5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52625"/>
            <a:ext cx="9696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D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37B46-56D3-4306-A487-9158E68A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581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E9E57-4031-4A19-A577-2E31057B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Directory visits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DB044-066C-4AAA-9245-ED457A26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0716B"/>
                </a:solidFill>
                <a:latin typeface="Arial"/>
                <a:ea typeface="Arial"/>
                <a:cs typeface="Arial"/>
              </a:rPr>
              <a:t>Parents begin browsing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3FB82-99FF-4B3B-B992-59078C5B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81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56F29-A0E5-44E5-8048-3687722A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098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Profile 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1C43C-B53B-4C97-9F60-1E4E3195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622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0716B"/>
                </a:solidFill>
                <a:latin typeface="Arial"/>
                <a:ea typeface="Arial"/>
                <a:cs typeface="Arial"/>
              </a:rPr>
              <a:t>Tutors draw interest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FA37F-B79F-4EEE-9FDC-F2CC1A05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81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3273A-75C1-4EF4-AAFD-928B7099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Booking starts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944C78-D94A-4477-A6E9-35EEA26E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622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0716B"/>
                </a:solidFill>
                <a:latin typeface="Arial"/>
                <a:ea typeface="Arial"/>
                <a:cs typeface="Arial"/>
              </a:rPr>
              <a:t>Parents choose a 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8C84C7-CA23-40F5-877F-F880210F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581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5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C5F3E-1793-41C6-9C9E-44808DA6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0980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Requests sent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52DC4-201B-4CB5-A500-74E4FBA0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62225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60716B"/>
                </a:solidFill>
                <a:latin typeface="Arial"/>
                <a:ea typeface="Arial"/>
                <a:cs typeface="Arial"/>
              </a:rPr>
              <a:t>Parents complete the form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54092-1F95-4D45-9A2C-94B2955F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Questions the data answers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078D37-E26E-4A58-9DEE-62F88EFF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5000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716B"/>
                </a:solidFill>
                <a:latin typeface="Arial"/>
                <a:ea typeface="Arial"/>
                <a:cs typeface="Arial"/>
              </a:rPr>
              <a:t>Which subjects</a:t>
            </a:r>
            <a:r>
              <a:rPr sz="1500">
                <a:solidFill>
                  <a:srgbClr val="60716B"/>
                </a:solidFill>
                <a:latin typeface="Arial"/>
                <a:ea typeface="Arial"/>
                <a:cs typeface="Arial"/>
              </a:rPr>
              <a:t> are families looking for?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716B"/>
                </a:solidFill>
                <a:latin typeface="Arial"/>
                <a:ea typeface="Arial"/>
                <a:cs typeface="Arial"/>
              </a:rPr>
              <a:t>Which tutors</a:t>
            </a:r>
            <a:r>
              <a:rPr sz="1500">
                <a:solidFill>
                  <a:srgbClr val="60716B"/>
                </a:solidFill>
                <a:latin typeface="Arial"/>
                <a:ea typeface="Arial"/>
                <a:cs typeface="Arial"/>
              </a:rPr>
              <a:t> receive the most profile views?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716B"/>
                </a:solidFill>
                <a:latin typeface="Arial"/>
                <a:ea typeface="Arial"/>
                <a:cs typeface="Arial"/>
              </a:rPr>
              <a:t>Where do parents leave</a:t>
            </a:r>
            <a:r>
              <a:rPr sz="1500">
                <a:solidFill>
                  <a:srgbClr val="60716B"/>
                </a:solidFill>
                <a:latin typeface="Arial"/>
                <a:ea typeface="Arial"/>
                <a:cs typeface="Arial"/>
              </a:rPr>
              <a:t> before sending a request?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716B"/>
                </a:solidFill>
                <a:latin typeface="Arial"/>
                <a:ea typeface="Arial"/>
                <a:cs typeface="Arial"/>
              </a:rPr>
              <a:t>Does Facebook</a:t>
            </a:r>
            <a:r>
              <a:rPr sz="1500">
                <a:solidFill>
                  <a:srgbClr val="60716B"/>
                </a:solidFill>
                <a:latin typeface="Arial"/>
                <a:ea typeface="Arial"/>
                <a:cs typeface="Arial"/>
              </a:rPr>
              <a:t> produce visits and booking requests?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4FAF27-A97B-43F9-9C22-CD7F810C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8137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38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3832"/>
                </a:solidFill>
                <a:latin typeface="Arial"/>
                <a:ea typeface="Arial"/>
                <a:cs typeface="Arial"/>
              </a:rPr>
              <a:t>Before a real launch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0749BF-6698-4F01-9CC2-C116DE50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716B"/>
                </a:solidFill>
                <a:latin typeface="Arial"/>
                <a:ea typeface="Arial"/>
                <a:cs typeface="Arial"/>
              </a:rPr>
              <a:t>Shared scheduling</a:t>
            </a:r>
            <a:r>
              <a:rPr sz="1500">
                <a:solidFill>
                  <a:srgbClr val="60716B"/>
                </a:solidFill>
                <a:latin typeface="Arial"/>
                <a:ea typeface="Arial"/>
                <a:cs typeface="Arial"/>
              </a:rPr>
              <a:t> so every visitor sees the same bookings and open times.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716B"/>
                </a:solidFill>
                <a:latin typeface="Arial"/>
                <a:ea typeface="Arial"/>
                <a:cs typeface="Arial"/>
              </a:rPr>
              <a:t>Private sign-in</a:t>
            </a:r>
            <a:r>
              <a:rPr sz="1500">
                <a:solidFill>
                  <a:srgbClr val="60716B"/>
                </a:solidFill>
                <a:latin typeface="Arial"/>
                <a:ea typeface="Arial"/>
                <a:cs typeface="Arial"/>
              </a:rPr>
              <a:t> so only you can open the admin view.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6071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0716B"/>
                </a:solidFill>
                <a:latin typeface="Arial"/>
                <a:ea typeface="Arial"/>
                <a:cs typeface="Arial"/>
              </a:rPr>
              <a:t>Real notifications</a:t>
            </a:r>
            <a:r>
              <a:rPr sz="1500">
                <a:solidFill>
                  <a:srgbClr val="60716B"/>
                </a:solidFill>
                <a:latin typeface="Arial"/>
                <a:ea typeface="Arial"/>
                <a:cs typeface="Arial"/>
              </a:rPr>
              <a:t> by email or text when a parent sends a request.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9539C-3FA4-4A5D-A36F-5CBCD0D2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F4E3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4E3F"/>
                </a:solidFill>
                <a:latin typeface="Arial"/>
                <a:ea typeface="Arial"/>
                <a:cs typeface="Arial"/>
              </a:rPr>
              <a:t>The prototype is ready to review with Dana and a small group of parents.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1A789D-E18A-44DA-9D8B-81C39E09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F66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665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02116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2026-09-05T22:28:50.6340000Z</dcterms:created>
  <dcterms:modified xsi:type="dcterms:W3CDTF">2026-09-05T22:28:50.6340000Z</dcterms:modified>
</coreProperties>
</file>