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a82c0647ad64487" /><Relationship Type="http://schemas.openxmlformats.org/officeDocument/2006/relationships/extended-properties" Target="/docProps/app.xml" Id="R30036064c22a4ad8" /><Relationship Type="http://schemas.openxmlformats.org/officeDocument/2006/relationships/officeDocument" Target="/ppt/presentation.xml" Id="Rd1d72a2e606e4c0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7867a20d51842d3"/>
  </p:sldMasterIdLst>
  <p:notesMasterIdLst>
    <p:notesMasterId xmlns:r="http://schemas.openxmlformats.org/officeDocument/2006/relationships" r:id="Rb5cf9e12305d45e7"/>
  </p:notesMasterIdLst>
  <p:sldIdLst>
    <p:sldId xmlns:r="http://schemas.openxmlformats.org/officeDocument/2006/relationships" id="256" r:id="Re995ff3d0be94743"/>
    <p:sldId xmlns:r="http://schemas.openxmlformats.org/officeDocument/2006/relationships" id="257" r:id="R0a0f90d55e8c4124"/>
    <p:sldId xmlns:r="http://schemas.openxmlformats.org/officeDocument/2006/relationships" id="258" r:id="Rd2eadb7253004fe9"/>
    <p:sldId xmlns:r="http://schemas.openxmlformats.org/officeDocument/2006/relationships" id="259" r:id="R73933f371d0c442f"/>
    <p:sldId xmlns:r="http://schemas.openxmlformats.org/officeDocument/2006/relationships" id="260" r:id="R6346e291e5dd4d8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244a29a52684b7a" /><Relationship Type="http://schemas.openxmlformats.org/officeDocument/2006/relationships/slideMaster" Target="/ppt/slideMasters/slideMaster1.xml" Id="R37867a20d51842d3" /><Relationship Type="http://schemas.openxmlformats.org/officeDocument/2006/relationships/notesMaster" Target="/ppt/notesMasters/notesMaster1.xml" Id="Rb5cf9e12305d45e7" /><Relationship Type="http://schemas.openxmlformats.org/officeDocument/2006/relationships/presProps" Target="/ppt/presProps.xml" Id="R354af65555854588" /><Relationship Type="http://schemas.openxmlformats.org/officeDocument/2006/relationships/tableStyles" Target="/ppt/tableStyles.xml" Id="R335458e627304b11" /><Relationship Type="http://schemas.openxmlformats.org/officeDocument/2006/relationships/slide" Target="/ppt/slides/slide1.xml" Id="Re995ff3d0be94743" /><Relationship Type="http://schemas.openxmlformats.org/officeDocument/2006/relationships/slide" Target="/ppt/slides/slide2.xml" Id="R0a0f90d55e8c4124" /><Relationship Type="http://schemas.openxmlformats.org/officeDocument/2006/relationships/slide" Target="/ppt/slides/slide3.xml" Id="Rd2eadb7253004fe9" /><Relationship Type="http://schemas.openxmlformats.org/officeDocument/2006/relationships/slide" Target="/ppt/slides/slide4.xml" Id="R73933f371d0c442f" /><Relationship Type="http://schemas.openxmlformats.org/officeDocument/2006/relationships/slide" Target="/ppt/slides/slide5.xml" Id="R6346e291e5dd4d8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bf72efec37a467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ab880ebff8c4e46" /><Relationship Type="http://schemas.openxmlformats.org/officeDocument/2006/relationships/notesMaster" Target="/ppt/notesMasters/notesMaster1.xml" Id="R98b7fe885c3b4d0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8f421aae93b48da" /><Relationship Type="http://schemas.openxmlformats.org/officeDocument/2006/relationships/notesMaster" Target="/ppt/notesMasters/notesMaster1.xml" Id="R05a11d5710c2446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fa4d58e57054164" /><Relationship Type="http://schemas.openxmlformats.org/officeDocument/2006/relationships/notesMaster" Target="/ppt/notesMasters/notesMaster1.xml" Id="R15ceeb4cac4c427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3aa5820b87a4685" /><Relationship Type="http://schemas.openxmlformats.org/officeDocument/2006/relationships/notesMaster" Target="/ppt/notesMasters/notesMaster1.xml" Id="R132b4f29a4ae4e9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472d640b76a4735" /><Relationship Type="http://schemas.openxmlformats.org/officeDocument/2006/relationships/notesMaster" Target="/ppt/notesMasters/notesMaster1.xml" Id="Rc4caeb1d23af408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ABC Tutoring prototype screenshot captured from the local build on September 5,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Dana interview supplied for this presentation.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ABC Tutoring prototype screenshot. The demo tutor portrait is an Unsplash photograph: https://images.unsplash.com/photo-1494790108377-be9c29b29330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ABC Tutoring prototype screenshot. Demo tutor images shown in the screenshot are from Unsplash: https://images.unsplash.com/photo-1494790108377-be9c29b29330, https://images.unsplash.com/photo-1566753323558-f4e0952af115, and https://images.unsplash.com/photo-1534528741775-53994a69daeb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Dana interview and the analytics event plan implemented in the ABC Tutoring prototype. No external performance data is presented.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e02303eb8649b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94632cd409344bd" /><Relationship Type="http://schemas.openxmlformats.org/officeDocument/2006/relationships/slideLayout" Target="/ppt/slideLayouts/slideLayout1.xml" Id="R6bcc873fdc8e4f8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bcc873fdc8e4f8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3defdbf2b947e9" /><Relationship Type="http://schemas.openxmlformats.org/officeDocument/2006/relationships/image" Target="/ppt/media/image.png" Id="R396d7a07ca334c9a" /><Relationship Type="http://schemas.openxmlformats.org/officeDocument/2006/relationships/notesSlide" Target="/ppt/notesSlides/notesSlide1.xml" Id="R86cc520582c246a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6411e9e65a4102" /><Relationship Type="http://schemas.openxmlformats.org/officeDocument/2006/relationships/notesSlide" Target="/ppt/notesSlides/notesSlide2.xml" Id="Rdb005c5fd49b478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5f02f785bf47bc" /><Relationship Type="http://schemas.openxmlformats.org/officeDocument/2006/relationships/image" Target="/ppt/media/image2.png" Id="R477d8452cdfd47b7" /><Relationship Type="http://schemas.openxmlformats.org/officeDocument/2006/relationships/notesSlide" Target="/ppt/notesSlides/notesSlide3.xml" Id="Rd41ce108db424af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da9d0c367345c5" /><Relationship Type="http://schemas.openxmlformats.org/officeDocument/2006/relationships/image" Target="/ppt/media/image3.png" Id="R0a8aef5115ea4adf" /><Relationship Type="http://schemas.openxmlformats.org/officeDocument/2006/relationships/notesSlide" Target="/ppt/notesSlides/notesSlide4.xml" Id="R4097d1cd5583403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3768bf79af4c86" /><Relationship Type="http://schemas.openxmlformats.org/officeDocument/2006/relationships/notesSlide" Target="/ppt/notesSlides/notesSlide5.xml" Id="R25f13b445a6b4fb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6d7a07ca334c9a"/>
          <a:srcRect xmlns:a="http://schemas.openxmlformats.org/drawingml/2006/main" l="4991" t="0" r="499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81750" y="0"/>
            <a:ext cx="58102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C8BB6A-99C7-4D7E-8FF9-AB64B52E8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DF8D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A1CA14-3B69-4D0D-ABD7-5E95D8B0A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382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F665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F6654"/>
                </a:solidFill>
                <a:latin typeface="Arial"/>
                <a:ea typeface="Arial"/>
                <a:cs typeface="Arial"/>
              </a:rPr>
              <a:t>A FOLLOW-UP FOR DANA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8A62FD-EF76-414B-BA00-523D13A02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28750"/>
            <a:ext cx="5048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93000"/>
              </a:lnSpc>
              <a:buNone/>
              <a:defRPr sz="4350" b="1">
                <a:solidFill>
                  <a:srgbClr val="243832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243832"/>
                </a:solidFill>
                <a:latin typeface="Arial"/>
                <a:ea typeface="Arial"/>
                <a:cs typeface="Arial"/>
              </a:rPr>
              <a:t>ABC Tutoring</a:t>
            </a:r>
          </a:p>
          <a:p xmlns:a="http://schemas.openxmlformats.org/drawingml/2006/main">
            <a:pPr>
              <a:lnSpc>
                <a:spcPct val="93000"/>
              </a:lnSpc>
              <a:buNone/>
              <a:defRPr sz="4350" b="1">
                <a:solidFill>
                  <a:srgbClr val="243832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243832"/>
                </a:solidFill>
                <a:latin typeface="Arial"/>
                <a:ea typeface="Arial"/>
                <a:cs typeface="Arial"/>
              </a:rPr>
              <a:t>website prototype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3DD5A8-F4DA-4F7E-87E6-225035F00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0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025">
                <a:solidFill>
                  <a:srgbClr val="60716B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60716B"/>
                </a:solidFill>
                <a:latin typeface="Arial"/>
                <a:ea typeface="Arial"/>
                <a:cs typeface="Arial"/>
              </a:rPr>
              <a:t>A simpler way for parents to find a tutor and request a session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05A8E6-8D6F-478E-89C0-D3921B6F1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81625"/>
            <a:ext cx="3714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350">
                <a:solidFill>
                  <a:srgbClr val="1F4E3F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F4E3F"/>
                </a:solidFill>
                <a:latin typeface="Arial"/>
                <a:ea typeface="Arial"/>
                <a:cs typeface="Arial"/>
              </a:rPr>
              <a:t>Prototype findings and next steps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350">
                <a:solidFill>
                  <a:srgbClr val="1F4E3F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F4E3F"/>
                </a:solidFill>
                <a:latin typeface="Arial"/>
                <a:ea typeface="Arial"/>
                <a:cs typeface="Arial"/>
              </a:rPr>
              <a:t>September 2026</a:t>
            </a:r>
          </a:p>
        </p:txBody>
      </p:sp>
    </p:spTree>
    <p:extLst>
      <p:ext uri="{BB962C8B-B14F-4D97-AF65-F5344CB8AC3E}">
        <p14:creationId xmlns:p14="http://schemas.microsoft.com/office/powerpoint/2010/main" val="5605852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8DB1BB-CD1E-41E0-B594-21D64F430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4383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43832"/>
                </a:solidFill>
                <a:latin typeface="Arial"/>
                <a:ea typeface="Arial"/>
                <a:cs typeface="Arial"/>
              </a:rPr>
              <a:t>What I heard from you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33897C-9672-420D-8B08-5A33A66C9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485775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E6F0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323850" tIns="285750" rIns="323850" bIns="28575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550" b="1">
                <a:solidFill>
                  <a:srgbClr val="1F4E3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F4E3F"/>
                </a:solidFill>
                <a:latin typeface="Arial"/>
                <a:ea typeface="Arial"/>
                <a:cs typeface="Arial"/>
              </a:rPr>
              <a:t>“I want parents to find the right tutor and book a session without everything going through my phone.”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EAB823-8A2F-437D-8C96-8243EE91C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9587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F665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F6654"/>
                </a:solidFill>
                <a:latin typeface="Arial"/>
                <a:ea typeface="Arial"/>
                <a:cs typeface="Arial"/>
              </a:rPr>
              <a:t>Dana, owner of ABC Tutoring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AA95C1-F5C4-4BB1-8574-ABAAC7457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52550"/>
            <a:ext cx="4762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4383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43832"/>
                </a:solidFill>
                <a:latin typeface="Arial"/>
                <a:ea typeface="Arial"/>
                <a:cs typeface="Arial"/>
              </a:rPr>
              <a:t>Help parents choose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F056D5-50F9-4C44-91A0-3CF1CD349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85925"/>
            <a:ext cx="4905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425">
                <a:solidFill>
                  <a:srgbClr val="60716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60716B"/>
                </a:solidFill>
                <a:latin typeface="Arial"/>
                <a:ea typeface="Arial"/>
                <a:cs typeface="Arial"/>
              </a:rPr>
              <a:t>Filter by subject and grade. Compare prices, availability and teaching format.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70CBFF-C1AB-4DD5-B9FB-D3B1A0EDE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43175"/>
            <a:ext cx="4762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4383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43832"/>
                </a:solidFill>
                <a:latin typeface="Arial"/>
                <a:ea typeface="Arial"/>
                <a:cs typeface="Arial"/>
              </a:rPr>
              <a:t>Build trust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7A9F93-726D-49C6-A945-D7F4FB72E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76550"/>
            <a:ext cx="4905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425">
                <a:solidFill>
                  <a:srgbClr val="60716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60716B"/>
                </a:solidFill>
                <a:latin typeface="Arial"/>
                <a:ea typeface="Arial"/>
                <a:cs typeface="Arial"/>
              </a:rPr>
              <a:t>Show real tutor photos, personal introductions, credentials and testimonials.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2CCBEE-7FE8-4A9C-A847-C33F0F740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4762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4383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43832"/>
                </a:solidFill>
                <a:latin typeface="Arial"/>
                <a:ea typeface="Arial"/>
                <a:cs typeface="Arial"/>
              </a:rPr>
              <a:t>Keep you in control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FD6B64-0B52-4BA1-9728-5954B638A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67175"/>
            <a:ext cx="4905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425">
                <a:solidFill>
                  <a:srgbClr val="60716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60716B"/>
                </a:solidFill>
                <a:latin typeface="Arial"/>
                <a:ea typeface="Arial"/>
                <a:cs typeface="Arial"/>
              </a:rPr>
              <a:t>Collect requests for your approval and let you manage tutor availability.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CFB548-B165-4E93-BCE4-95287882E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24425"/>
            <a:ext cx="4762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4383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43832"/>
                </a:solidFill>
                <a:latin typeface="Arial"/>
                <a:ea typeface="Arial"/>
                <a:cs typeface="Arial"/>
              </a:rPr>
              <a:t>Keep the first version simple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8D39D1-7865-451D-B8C4-44D161BC3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57800"/>
            <a:ext cx="4905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425">
                <a:solidFill>
                  <a:srgbClr val="60716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60716B"/>
                </a:solidFill>
                <a:latin typeface="Arial"/>
                <a:ea typeface="Arial"/>
                <a:cs typeface="Arial"/>
              </a:rPr>
              <a:t>No payment or automated cancellation workflow. Parents can still call you when plans change.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B20BA4-F2D2-4C3F-8DC8-25509760E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F665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665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530596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705B68-9C21-4E59-BE73-70A0F057E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4383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43832"/>
                </a:solidFill>
                <a:latin typeface="Arial"/>
                <a:ea typeface="Arial"/>
                <a:cs typeface="Arial"/>
              </a:rPr>
              <a:t>Parents can request a session in one clear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5BBC2C-1D7F-4010-BA75-E9A211C0F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810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0716B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60716B"/>
                </a:solidFill>
                <a:latin typeface="Arial"/>
                <a:ea typeface="Arial"/>
                <a:cs typeface="Arial"/>
              </a:rPr>
              <a:t>The prototype keeps the decision in one place and uses plain language throughout.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C4BED2-CB85-4F5B-99AD-DAA5EF7B4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352550"/>
            <a:ext cx="6943725" cy="4933950"/>
          </a:xfrm>
          <a:prstGeom xmlns:a="http://schemas.openxmlformats.org/drawingml/2006/main" prst="roundRect">
            <a:avLst>
              <a:gd name="adj" fmla="val 15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DA"/>
            </a:solidFill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7d8452cdfd47b7"/>
          <a:stretch xmlns:a="http://schemas.openxmlformats.org/drawingml/2006/main"/>
        </p:blipFill>
        <p:spPr>
          <a:xfrm xmlns:a="http://schemas.openxmlformats.org/drawingml/2006/main">
            <a:off x="4905375" y="1709142"/>
            <a:ext cx="6753225" cy="4220766"/>
          </a:xfrm>
          <a:prstGeom xmlns:a="http://schemas.openxmlformats.org/drawingml/2006/main" prst="roundRect">
            <a:avLst>
              <a:gd name="adj" fmla="val 2410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CE6DF0-96E7-46BE-AAD6-2AB45901D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F665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665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B428C5-47E9-4C87-91C4-A0FBF49F6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581150"/>
            <a:ext cx="3048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4383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43832"/>
                </a:solidFill>
                <a:latin typeface="Arial"/>
                <a:ea typeface="Arial"/>
                <a:cs typeface="Arial"/>
              </a:rPr>
              <a:t>Find the right tutor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0F33A9-C019-4191-A676-79A6594CB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05000"/>
            <a:ext cx="304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>
                <a:solidFill>
                  <a:srgbClr val="60716B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60716B"/>
                </a:solidFill>
                <a:latin typeface="Arial"/>
                <a:ea typeface="Arial"/>
                <a:cs typeface="Arial"/>
              </a:rPr>
              <a:t>Use subject and grade filters, then compare rates and open times.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25A17E-98D0-4F7E-A4DF-BF4AD6BCF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F665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665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FFC5F1-72D3-4B6B-82D8-68996BC08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05100"/>
            <a:ext cx="3048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4383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43832"/>
                </a:solidFill>
                <a:latin typeface="Arial"/>
                <a:ea typeface="Arial"/>
                <a:cs typeface="Arial"/>
              </a:rPr>
              <a:t>Choose the session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C5BE3E-79A1-4EFB-9778-C9768BFCC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28950"/>
            <a:ext cx="304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>
                <a:solidFill>
                  <a:srgbClr val="60716B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60716B"/>
                </a:solidFill>
                <a:latin typeface="Arial"/>
                <a:ea typeface="Arial"/>
                <a:cs typeface="Arial"/>
              </a:rPr>
              <a:t>Pick an available time and choose online or in person.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B662C4-3B3B-4C20-A77B-35779FD45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F665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665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2583EC-078A-4365-A960-DFF3829E7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829050"/>
            <a:ext cx="3048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4383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43832"/>
                </a:solidFill>
                <a:latin typeface="Arial"/>
                <a:ea typeface="Arial"/>
                <a:cs typeface="Arial"/>
              </a:rPr>
              <a:t>Share the essentials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CA4673-E958-43DC-BCE0-9D7960244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52900"/>
            <a:ext cx="304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>
                <a:solidFill>
                  <a:srgbClr val="60716B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60716B"/>
                </a:solidFill>
                <a:latin typeface="Arial"/>
                <a:ea typeface="Arial"/>
                <a:cs typeface="Arial"/>
              </a:rPr>
              <a:t>Enter the parent’s contact details and the student’s first name, grade and subject.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88CAD6-BD44-44A7-A2B2-4093B3229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F665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665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2A0A42-CA18-41E1-B6C0-0A6E78ABA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53000"/>
            <a:ext cx="3048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4383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43832"/>
                </a:solidFill>
                <a:latin typeface="Arial"/>
                <a:ea typeface="Arial"/>
                <a:cs typeface="Arial"/>
              </a:rPr>
              <a:t>Wait for your reply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211D0C-38B1-488F-8D0D-75EA69311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276850"/>
            <a:ext cx="304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>
                <a:solidFill>
                  <a:srgbClr val="60716B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60716B"/>
                </a:solidFill>
                <a:latin typeface="Arial"/>
                <a:ea typeface="Arial"/>
                <a:cs typeface="Arial"/>
              </a:rPr>
              <a:t>The parent sees “pending approval” while you review the request.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9118F5-93F8-4D3B-BD72-F6022449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09600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F4E3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F4E3F"/>
                </a:solidFill>
                <a:latin typeface="Arial"/>
                <a:ea typeface="Arial"/>
                <a:cs typeface="Arial"/>
              </a:rPr>
              <a:t>No payment is collected.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6A7E45-0CA9-45DD-A626-E26994FB2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F665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665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7265360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6F0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D9CE1D-0F33-4777-86D8-AACD5F5DB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4383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43832"/>
                </a:solidFill>
                <a:latin typeface="Arial"/>
                <a:ea typeface="Arial"/>
                <a:cs typeface="Arial"/>
              </a:rPr>
              <a:t>Your booking desk keeps you in control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08477A-5E43-4594-9A68-F07D9F970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810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0716B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60716B"/>
                </a:solidFill>
                <a:latin typeface="Arial"/>
                <a:ea typeface="Arial"/>
                <a:cs typeface="Arial"/>
              </a:rPr>
              <a:t>A simple private view gives you the final say over every request.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2D3E4C-32B8-4D68-BBFC-C9AFB8EE6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04950"/>
            <a:ext cx="7067550" cy="4524375"/>
          </a:xfrm>
          <a:prstGeom xmlns:a="http://schemas.openxmlformats.org/drawingml/2006/main" prst="roundRect">
            <a:avLst>
              <a:gd name="adj" fmla="val 16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DA"/>
            </a:solidFill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8aef5115ea4adf"/>
          <a:srcRect xmlns:a="http://schemas.openxmlformats.org/drawingml/2006/main" l="412" t="0" r="41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600200"/>
            <a:ext cx="6877050" cy="4333875"/>
          </a:xfrm>
          <a:prstGeom xmlns:a="http://schemas.openxmlformats.org/drawingml/2006/main" prst="roundRect">
            <a:avLst>
              <a:gd name="adj" fmla="val 2637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1BB5EA-E81D-4D21-8BA2-23264E18F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14500"/>
            <a:ext cx="3381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4383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43832"/>
                </a:solidFill>
                <a:latin typeface="Arial"/>
                <a:ea typeface="Arial"/>
                <a:cs typeface="Arial"/>
              </a:rPr>
              <a:t>See every request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9C49D1-75BE-4616-B771-63E8FFE55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076450"/>
            <a:ext cx="3381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425">
                <a:solidFill>
                  <a:srgbClr val="60716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60716B"/>
                </a:solidFill>
                <a:latin typeface="Arial"/>
                <a:ea typeface="Arial"/>
                <a:cs typeface="Arial"/>
              </a:rPr>
              <a:t>Parent, student, tutor, subject, format and requested time appear together.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3EEDDA-5ECF-4645-96FC-ABD417E62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71800"/>
            <a:ext cx="3381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4383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43832"/>
                </a:solidFill>
                <a:latin typeface="Arial"/>
                <a:ea typeface="Arial"/>
                <a:cs typeface="Arial"/>
              </a:rPr>
              <a:t>Approve on your schedule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3A03B6-7F6E-482B-8F0A-98D556A82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333750"/>
            <a:ext cx="3381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425">
                <a:solidFill>
                  <a:srgbClr val="60716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60716B"/>
                </a:solidFill>
                <a:latin typeface="Arial"/>
                <a:ea typeface="Arial"/>
                <a:cs typeface="Arial"/>
              </a:rPr>
              <a:t>A request stays pending until you decide. Approval removes that time from availability.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0848B7-02C5-4D56-BC7C-58BC43D2D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229100"/>
            <a:ext cx="3381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4383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43832"/>
                </a:solidFill>
                <a:latin typeface="Arial"/>
                <a:ea typeface="Arial"/>
                <a:cs typeface="Arial"/>
              </a:rPr>
              <a:t>Keep tutor times current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76DE7B-2F43-4995-B55A-987C5F3AB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591050"/>
            <a:ext cx="3381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425">
                <a:solidFill>
                  <a:srgbClr val="60716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60716B"/>
                </a:solidFill>
                <a:latin typeface="Arial"/>
                <a:ea typeface="Arial"/>
                <a:cs typeface="Arial"/>
              </a:rPr>
              <a:t>You can add or remove each tutor’s available times yourself.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44F431-FE08-4722-B3F8-861B96527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505450"/>
            <a:ext cx="152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F4E3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4E3F"/>
                </a:solidFill>
                <a:latin typeface="Arial"/>
                <a:ea typeface="Arial"/>
                <a:cs typeface="Arial"/>
              </a:rPr>
              <a:t>Prototype note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FF6398-0F8E-49B7-8290-0BBDA0BC4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781675"/>
            <a:ext cx="3381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>
                <a:solidFill>
                  <a:srgbClr val="1F4E3F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F4E3F"/>
                </a:solidFill>
                <a:latin typeface="Arial"/>
                <a:ea typeface="Arial"/>
                <a:cs typeface="Arial"/>
              </a:rPr>
              <a:t>Notifications and schedule updates are simulated and saved on one device for now.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E1C730-877B-4672-B391-7918F2E2B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F665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665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967433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F9223D-6698-4BE9-9ECC-D6D8E18CA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4383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43832"/>
                </a:solidFill>
                <a:latin typeface="Arial"/>
                <a:ea typeface="Arial"/>
                <a:cs typeface="Arial"/>
              </a:rPr>
              <a:t>What you can learn from the website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BE8F83-E9AC-485B-A81B-1FE0CDF67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810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0716B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60716B"/>
                </a:solidFill>
                <a:latin typeface="Arial"/>
                <a:ea typeface="Arial"/>
                <a:cs typeface="Arial"/>
              </a:rPr>
              <a:t>PostHog follows the parent journey without collecting names, emails or student details.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D73F0F-CBBE-4DB6-9EB8-4B99190A5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52625"/>
            <a:ext cx="9696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D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0BEDEB-BA36-40B2-982F-EBD25064B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5811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6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D4576B-7DA2-4850-AFAC-99737E0B5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224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4383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43832"/>
                </a:solidFill>
                <a:latin typeface="Arial"/>
                <a:ea typeface="Arial"/>
                <a:cs typeface="Arial"/>
              </a:rPr>
              <a:t>Directory visits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385268-7205-4C1E-86E5-3600C7EC3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62225"/>
            <a:ext cx="224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6071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60716B"/>
                </a:solidFill>
                <a:latin typeface="Arial"/>
                <a:ea typeface="Arial"/>
                <a:cs typeface="Arial"/>
              </a:rPr>
              <a:t>Parents begin browsing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283EDC-1FC0-436D-850B-3FBB9F5D5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5811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6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120F80-390C-4BA5-B026-D1ACF5C65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209800"/>
            <a:ext cx="224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4383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43832"/>
                </a:solidFill>
                <a:latin typeface="Arial"/>
                <a:ea typeface="Arial"/>
                <a:cs typeface="Arial"/>
              </a:rPr>
              <a:t>Profile views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6F3F02-F41E-4902-8D86-AAD65F92C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62225"/>
            <a:ext cx="224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6071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60716B"/>
                </a:solidFill>
                <a:latin typeface="Arial"/>
                <a:ea typeface="Arial"/>
                <a:cs typeface="Arial"/>
              </a:rPr>
              <a:t>Tutors draw interest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5B21F6-37D2-4831-89F4-55EEB3B3A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5811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6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8FCD88-82C9-4EB8-9CF7-A068B5D49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209800"/>
            <a:ext cx="224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4383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43832"/>
                </a:solidFill>
                <a:latin typeface="Arial"/>
                <a:ea typeface="Arial"/>
                <a:cs typeface="Arial"/>
              </a:rPr>
              <a:t>Booking starts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B103A6-3DAD-405D-AA54-D3F12958F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62225"/>
            <a:ext cx="224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6071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60716B"/>
                </a:solidFill>
                <a:latin typeface="Arial"/>
                <a:ea typeface="Arial"/>
                <a:cs typeface="Arial"/>
              </a:rPr>
              <a:t>Parents choose a time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9099F2-02AE-4A1C-A71B-75F468C98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15811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6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EAA36B-C0E7-4B1A-B510-849C74DD3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209800"/>
            <a:ext cx="224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4383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43832"/>
                </a:solidFill>
                <a:latin typeface="Arial"/>
                <a:ea typeface="Arial"/>
                <a:cs typeface="Arial"/>
              </a:rPr>
              <a:t>Requests sent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44D87A-6C40-41B8-81A8-5618E56D0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562225"/>
            <a:ext cx="224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6071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60716B"/>
                </a:solidFill>
                <a:latin typeface="Arial"/>
                <a:ea typeface="Arial"/>
                <a:cs typeface="Arial"/>
              </a:rPr>
              <a:t>Parents complete the form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A3B5FB-2979-47CC-BC75-671E8A3B3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447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4383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43832"/>
                </a:solidFill>
                <a:latin typeface="Arial"/>
                <a:ea typeface="Arial"/>
                <a:cs typeface="Arial"/>
              </a:rPr>
              <a:t>Questions the data answers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4660EF-8543-494F-B6EB-4BAAF2FF4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500062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60716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0716B"/>
                </a:solidFill>
                <a:latin typeface="Arial"/>
                <a:ea typeface="Arial"/>
                <a:cs typeface="Arial"/>
              </a:rPr>
              <a:t>Which subjects</a:t>
            </a:r>
            <a:r>
              <a:rPr sz="1500">
                <a:solidFill>
                  <a:srgbClr val="60716B"/>
                </a:solidFill>
                <a:latin typeface="Arial"/>
                <a:ea typeface="Arial"/>
                <a:cs typeface="Arial"/>
              </a:rPr>
              <a:t> are families looking for?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60716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0716B"/>
                </a:solidFill>
                <a:latin typeface="Arial"/>
                <a:ea typeface="Arial"/>
                <a:cs typeface="Arial"/>
              </a:rPr>
              <a:t>Which tutors</a:t>
            </a:r>
            <a:r>
              <a:rPr sz="1500">
                <a:solidFill>
                  <a:srgbClr val="60716B"/>
                </a:solidFill>
                <a:latin typeface="Arial"/>
                <a:ea typeface="Arial"/>
                <a:cs typeface="Arial"/>
              </a:rPr>
              <a:t> receive the most profile views?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60716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0716B"/>
                </a:solidFill>
                <a:latin typeface="Arial"/>
                <a:ea typeface="Arial"/>
                <a:cs typeface="Arial"/>
              </a:rPr>
              <a:t>Where do parents leave</a:t>
            </a:r>
            <a:r>
              <a:rPr sz="1500">
                <a:solidFill>
                  <a:srgbClr val="60716B"/>
                </a:solidFill>
                <a:latin typeface="Arial"/>
                <a:ea typeface="Arial"/>
                <a:cs typeface="Arial"/>
              </a:rPr>
              <a:t> before sending a request?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60716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0716B"/>
                </a:solidFill>
                <a:latin typeface="Arial"/>
                <a:ea typeface="Arial"/>
                <a:cs typeface="Arial"/>
              </a:rPr>
              <a:t>Does Facebook</a:t>
            </a:r>
            <a:r>
              <a:rPr sz="1500">
                <a:solidFill>
                  <a:srgbClr val="60716B"/>
                </a:solidFill>
                <a:latin typeface="Arial"/>
                <a:ea typeface="Arial"/>
                <a:cs typeface="Arial"/>
              </a:rPr>
              <a:t> produce visits and booking requests?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55CE17-C243-4BB3-8690-C84C308C2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81375"/>
            <a:ext cx="447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4383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43832"/>
                </a:solidFill>
                <a:latin typeface="Arial"/>
                <a:ea typeface="Arial"/>
                <a:cs typeface="Arial"/>
              </a:rPr>
              <a:t>Before a real launch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A5A458-BE0A-46F0-B0EB-7C09B2FC0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57625"/>
            <a:ext cx="4857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60716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0716B"/>
                </a:solidFill>
                <a:latin typeface="Arial"/>
                <a:ea typeface="Arial"/>
                <a:cs typeface="Arial"/>
              </a:rPr>
              <a:t>Shared scheduling</a:t>
            </a:r>
            <a:r>
              <a:rPr sz="1500">
                <a:solidFill>
                  <a:srgbClr val="60716B"/>
                </a:solidFill>
                <a:latin typeface="Arial"/>
                <a:ea typeface="Arial"/>
                <a:cs typeface="Arial"/>
              </a:rPr>
              <a:t> so every visitor sees the same bookings and open times.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60716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0716B"/>
                </a:solidFill>
                <a:latin typeface="Arial"/>
                <a:ea typeface="Arial"/>
                <a:cs typeface="Arial"/>
              </a:rPr>
              <a:t>Private sign-in</a:t>
            </a:r>
            <a:r>
              <a:rPr sz="1500">
                <a:solidFill>
                  <a:srgbClr val="60716B"/>
                </a:solidFill>
                <a:latin typeface="Arial"/>
                <a:ea typeface="Arial"/>
                <a:cs typeface="Arial"/>
              </a:rPr>
              <a:t> so only you can open the admin view.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60716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0716B"/>
                </a:solidFill>
                <a:latin typeface="Arial"/>
                <a:ea typeface="Arial"/>
                <a:cs typeface="Arial"/>
              </a:rPr>
              <a:t>Real notifications</a:t>
            </a:r>
            <a:r>
              <a:rPr sz="1500">
                <a:solidFill>
                  <a:srgbClr val="60716B"/>
                </a:solidFill>
                <a:latin typeface="Arial"/>
                <a:ea typeface="Arial"/>
                <a:cs typeface="Arial"/>
              </a:rPr>
              <a:t> by email or text when a parent sends a request.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9DD58A-D483-4DF4-9515-827C87814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F4E3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F4E3F"/>
                </a:solidFill>
                <a:latin typeface="Arial"/>
                <a:ea typeface="Arial"/>
                <a:cs typeface="Arial"/>
              </a:rPr>
              <a:t>The prototype is ready to review with Dana and a small group of parents.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3288F8-38AC-4242-AD08-3C65D91DF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F665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6654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388514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2026-09-05T22:31:36.8530000Z</dcterms:created>
  <dcterms:modified xsi:type="dcterms:W3CDTF">2026-09-05T22:31:36.8530000Z</dcterms:modified>
</coreProperties>
</file>